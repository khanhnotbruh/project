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68" r:id="rId4"/>
    <p:sldId id="256" r:id="rId5"/>
    <p:sldId id="29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</p:sldIdLst>
  <p:sldSz cx="12192000" cy="6858000"/>
  <p:notesSz cx="6858000" cy="9144000"/>
  <p:custShowLst>
    <p:custShow name="quiz" id="0">
      <p:sldLst>
        <p:sld r:id="rId5"/>
      </p:sldLst>
    </p:custShow>
  </p:custShowLst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49E41A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7030A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rgbClr val="7030A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rgbClr val="7030A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rgbClr val="7030A0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Sheet1!$A$2:$A$9</c:f>
              <c:strCache>
                <c:ptCount val="8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  <c:pt idx="4">
                  <c:v>5th Qtr</c:v>
                </c:pt>
                <c:pt idx="5">
                  <c:v>6th Qtr</c:v>
                </c:pt>
                <c:pt idx="6">
                  <c:v>7th Qtr</c:v>
                </c:pt>
                <c:pt idx="7">
                  <c:v>8th Qtr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60</c:v>
                </c:pt>
                <c:pt idx="1">
                  <c:v>60</c:v>
                </c:pt>
                <c:pt idx="2">
                  <c:v>60</c:v>
                </c:pt>
                <c:pt idx="3">
                  <c:v>60</c:v>
                </c:pt>
                <c:pt idx="4">
                  <c:v>60</c:v>
                </c:pt>
                <c:pt idx="5">
                  <c:v>60</c:v>
                </c:pt>
                <c:pt idx="6">
                  <c:v>60</c:v>
                </c:pt>
                <c:pt idx="7">
                  <c:v>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DDBC7-D3CF-4E24-BD5D-336A092EE85B}" type="datetimeFigureOut">
              <a:rPr lang="vi-VN" smtClean="0"/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6D8BB6-E5D3-485C-8E88-7930E7619FE2}" type="slidenum">
              <a:rPr lang="vi-VN" smtClean="0"/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4D83-39EC-49B8-8C7D-B71D047E39BB}" type="datetimeFigureOut">
              <a:rPr lang="vi-VN" smtClean="0"/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A82A-B171-4616-A361-4D4EFAE9D899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4D83-39EC-49B8-8C7D-B71D047E39BB}" type="datetimeFigureOut">
              <a:rPr lang="vi-VN" smtClean="0"/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A82A-B171-4616-A361-4D4EFAE9D899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4D83-39EC-49B8-8C7D-B71D047E39BB}" type="datetimeFigureOut">
              <a:rPr lang="vi-VN" smtClean="0"/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A82A-B171-4616-A361-4D4EFAE9D899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4D83-39EC-49B8-8C7D-B71D047E39BB}" type="datetimeFigureOut">
              <a:rPr lang="vi-VN" smtClean="0"/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A82A-B171-4616-A361-4D4EFAE9D899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4D83-39EC-49B8-8C7D-B71D047E39BB}" type="datetimeFigureOut">
              <a:rPr lang="vi-VN" smtClean="0"/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A82A-B171-4616-A361-4D4EFAE9D899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4D83-39EC-49B8-8C7D-B71D047E39BB}" type="datetimeFigureOut">
              <a:rPr lang="vi-VN" smtClean="0"/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A82A-B171-4616-A361-4D4EFAE9D899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4D83-39EC-49B8-8C7D-B71D047E39BB}" type="datetimeFigureOut">
              <a:rPr lang="vi-VN" smtClean="0"/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A82A-B171-4616-A361-4D4EFAE9D899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4D83-39EC-49B8-8C7D-B71D047E39BB}" type="datetimeFigureOut">
              <a:rPr lang="vi-VN" smtClean="0"/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A82A-B171-4616-A361-4D4EFAE9D899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4D83-39EC-49B8-8C7D-B71D047E39BB}" type="datetimeFigureOut">
              <a:rPr lang="vi-VN" smtClean="0"/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A82A-B171-4616-A361-4D4EFAE9D899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4D83-39EC-49B8-8C7D-B71D047E39BB}" type="datetimeFigureOut">
              <a:rPr lang="vi-VN" smtClean="0"/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A82A-B171-4616-A361-4D4EFAE9D899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4D83-39EC-49B8-8C7D-B71D047E39BB}" type="datetimeFigureOut">
              <a:rPr lang="vi-VN" smtClean="0"/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A82A-B171-4616-A361-4D4EFAE9D899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4D83-39EC-49B8-8C7D-B71D047E39BB}" type="datetimeFigureOut">
              <a:rPr lang="vi-VN" smtClean="0"/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A82A-B171-4616-A361-4D4EFAE9D899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4D83-39EC-49B8-8C7D-B71D047E39BB}" type="datetimeFigureOut">
              <a:rPr lang="vi-VN" smtClean="0"/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A82A-B171-4616-A361-4D4EFAE9D899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4D83-39EC-49B8-8C7D-B71D047E39BB}" type="datetimeFigureOut">
              <a:rPr lang="vi-VN" smtClean="0"/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A82A-B171-4616-A361-4D4EFAE9D899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4D83-39EC-49B8-8C7D-B71D047E39BB}" type="datetimeFigureOut">
              <a:rPr lang="vi-VN" smtClean="0"/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A82A-B171-4616-A361-4D4EFAE9D899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4D83-39EC-49B8-8C7D-B71D047E39BB}" type="datetimeFigureOut">
              <a:rPr lang="vi-VN" smtClean="0"/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A82A-B171-4616-A361-4D4EFAE9D899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4D83-39EC-49B8-8C7D-B71D047E39BB}" type="datetimeFigureOut">
              <a:rPr lang="vi-VN" smtClean="0"/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A82A-B171-4616-A361-4D4EFAE9D899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4D83-39EC-49B8-8C7D-B71D047E39BB}" type="datetimeFigureOut">
              <a:rPr lang="vi-VN" smtClean="0"/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A82A-B171-4616-A361-4D4EFAE9D899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4D83-39EC-49B8-8C7D-B71D047E39BB}" type="datetimeFigureOut">
              <a:rPr lang="vi-VN" smtClean="0"/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A82A-B171-4616-A361-4D4EFAE9D899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4D83-39EC-49B8-8C7D-B71D047E39BB}" type="datetimeFigureOut">
              <a:rPr lang="vi-VN" smtClean="0"/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A82A-B171-4616-A361-4D4EFAE9D899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4D83-39EC-49B8-8C7D-B71D047E39BB}" type="datetimeFigureOut">
              <a:rPr lang="vi-VN" smtClean="0"/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A82A-B171-4616-A361-4D4EFAE9D899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B4D83-39EC-49B8-8C7D-B71D047E39BB}" type="datetimeFigureOut">
              <a:rPr lang="vi-VN" smtClean="0"/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A82A-B171-4616-A361-4D4EFAE9D899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4B4D83-39EC-49B8-8C7D-B71D047E39BB}" type="datetimeFigureOut">
              <a:rPr lang="vi-VN" smtClean="0"/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D3A82A-B171-4616-A361-4D4EFAE9D899}" type="slidenum">
              <a:rPr lang="vi-VN" smtClean="0"/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4B4D83-39EC-49B8-8C7D-B71D047E39BB}" type="datetimeFigureOut">
              <a:rPr lang="vi-VN" smtClean="0"/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D3A82A-B171-4616-A361-4D4EFAE9D899}" type="slidenum">
              <a:rPr lang="vi-VN" smtClean="0"/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GIF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" Target="slide5.xml"/><Relationship Id="rId8" Type="http://schemas.openxmlformats.org/officeDocument/2006/relationships/slide" Target="slide10.xml"/><Relationship Id="rId7" Type="http://schemas.openxmlformats.org/officeDocument/2006/relationships/slide" Target="slide9.xml"/><Relationship Id="rId6" Type="http://schemas.openxmlformats.org/officeDocument/2006/relationships/slide" Target="slide4.xml"/><Relationship Id="rId5" Type="http://schemas.openxmlformats.org/officeDocument/2006/relationships/slide" Target="slide11.xml"/><Relationship Id="rId4" Type="http://schemas.openxmlformats.org/officeDocument/2006/relationships/slide" Target="slide7.xml"/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1.xml"/><Relationship Id="rId11" Type="http://schemas.openxmlformats.org/officeDocument/2006/relationships/slide" Target="slide6.xml"/><Relationship Id="rId10" Type="http://schemas.openxmlformats.org/officeDocument/2006/relationships/slide" Target="slide8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slide" Target="slide2.xml"/><Relationship Id="rId2" Type="http://schemas.openxmlformats.org/officeDocument/2006/relationships/image" Target="../media/image2.GIF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3.xml"/><Relationship Id="rId3" Type="http://schemas.openxmlformats.org/officeDocument/2006/relationships/slide" Target="slide2.xml"/><Relationship Id="rId2" Type="http://schemas.openxmlformats.org/officeDocument/2006/relationships/image" Target="../media/image2.GIF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3.xml"/><Relationship Id="rId3" Type="http://schemas.openxmlformats.org/officeDocument/2006/relationships/slide" Target="slide2.xml"/><Relationship Id="rId2" Type="http://schemas.openxmlformats.org/officeDocument/2006/relationships/image" Target="../media/image2.GIF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3.xml"/><Relationship Id="rId3" Type="http://schemas.openxmlformats.org/officeDocument/2006/relationships/slide" Target="slide2.xml"/><Relationship Id="rId2" Type="http://schemas.openxmlformats.org/officeDocument/2006/relationships/image" Target="../media/image2.GIF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3.xml"/><Relationship Id="rId3" Type="http://schemas.openxmlformats.org/officeDocument/2006/relationships/slide" Target="slide2.xml"/><Relationship Id="rId2" Type="http://schemas.openxmlformats.org/officeDocument/2006/relationships/image" Target="../media/image2.GIF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3.xml"/><Relationship Id="rId3" Type="http://schemas.openxmlformats.org/officeDocument/2006/relationships/slide" Target="slide2.xml"/><Relationship Id="rId2" Type="http://schemas.openxmlformats.org/officeDocument/2006/relationships/image" Target="../media/image2.GIF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3.xml"/><Relationship Id="rId3" Type="http://schemas.openxmlformats.org/officeDocument/2006/relationships/slide" Target="slide2.xml"/><Relationship Id="rId2" Type="http://schemas.openxmlformats.org/officeDocument/2006/relationships/image" Target="../media/image2.GIF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3.xml"/><Relationship Id="rId3" Type="http://schemas.openxmlformats.org/officeDocument/2006/relationships/slide" Target="slide2.xml"/><Relationship Id="rId2" Type="http://schemas.openxmlformats.org/officeDocument/2006/relationships/image" Target="../media/image2.GIF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547"/>
            <a:ext cx="12192000" cy="6842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 black cat with a white spot on its chest looks at the camer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958051" y="6049202"/>
            <a:ext cx="1233947" cy="82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a black cat with a white spot on its chest looks at the camer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" y="6079918"/>
            <a:ext cx="1233947" cy="82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/>
          <p:cNvSpPr/>
          <p:nvPr>
            <p:ph type="ctrTitle"/>
          </p:nvPr>
        </p:nvSpPr>
        <p:spPr>
          <a:xfrm>
            <a:off x="1524000" y="1745298"/>
            <a:ext cx="9144000" cy="2387600"/>
          </a:xfrm>
        </p:spPr>
        <p:txBody>
          <a:bodyPr/>
          <a:p>
            <a:r>
              <a:rPr lang="vi-VN" altLang="en-US"/>
              <a:t>Các </a:t>
            </a:r>
            <a:r>
              <a:rPr lang="en-US"/>
              <a:t>M</a:t>
            </a:r>
            <a:r>
              <a:rPr lang="vi-VN" altLang="en-US"/>
              <a:t>ô hình Kinh doanh tại Hải Phòng</a:t>
            </a:r>
            <a:endParaRPr lang="vi-VN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4599305" y="0"/>
            <a:ext cx="36277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              bài của tổ 3</a:t>
            </a:r>
            <a:endParaRPr lang="vi-VN" altLang="en-US"/>
          </a:p>
          <a:p>
            <a:r>
              <a:rPr lang="vi-VN" altLang="en-US"/>
              <a:t>tác giả: ttkhánh và tqtrường </a:t>
            </a:r>
            <a:endParaRPr lang="vi-V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" y="82232"/>
            <a:ext cx="12192000" cy="6842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a black cat with a white spot on its chest looks at the camer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3" y="81730"/>
            <a:ext cx="1233947" cy="82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ounded Rectangle 40"/>
          <p:cNvSpPr/>
          <p:nvPr/>
        </p:nvSpPr>
        <p:spPr>
          <a:xfrm>
            <a:off x="158750" y="1555115"/>
            <a:ext cx="5803900" cy="1450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3" name="Picture 2" descr="a black cat with a white spot on its chest looks at the camer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10958053" y="51014"/>
            <a:ext cx="1233947" cy="82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423667" y="1818968"/>
            <a:ext cx="6002594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5400" dirty="0">
                <a:solidFill>
                  <a:schemeClr val="bg1"/>
                </a:solidFill>
                <a:latin typeface="Aptos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Trò chơi </a:t>
            </a:r>
            <a:r>
              <a:rPr lang="en-US" altLang="vi-VN" sz="5400" dirty="0">
                <a:solidFill>
                  <a:schemeClr val="bg1"/>
                </a:solidFill>
                <a:latin typeface="Aptos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quay</a:t>
            </a:r>
            <a:r>
              <a:rPr lang="vi-VN" sz="5400">
                <a:solidFill>
                  <a:schemeClr val="bg1"/>
                </a:solidFill>
                <a:latin typeface="Aptos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số</a:t>
            </a:r>
            <a:endParaRPr lang="vi-VN" sz="5400" dirty="0">
              <a:solidFill>
                <a:schemeClr val="bg1"/>
              </a:solidFill>
              <a:latin typeface="Aptos" panose="020B0004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6313170" y="1377315"/>
            <a:ext cx="5054600" cy="505460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8680" h="8680">
                <a:moveTo>
                  <a:pt x="0" y="4338"/>
                </a:moveTo>
                <a:cubicBezTo>
                  <a:pt x="-75" y="1903"/>
                  <a:pt x="2155" y="-60"/>
                  <a:pt x="4338" y="0"/>
                </a:cubicBezTo>
                <a:cubicBezTo>
                  <a:pt x="6773" y="-75"/>
                  <a:pt x="8736" y="2155"/>
                  <a:pt x="8676" y="4338"/>
                </a:cubicBezTo>
                <a:cubicBezTo>
                  <a:pt x="8751" y="6773"/>
                  <a:pt x="6521" y="8736"/>
                  <a:pt x="4338" y="8676"/>
                </a:cubicBezTo>
                <a:cubicBezTo>
                  <a:pt x="1903" y="8751"/>
                  <a:pt x="-60" y="6521"/>
                  <a:pt x="0" y="4338"/>
                </a:cubicBezTo>
                <a:close/>
                <a:moveTo>
                  <a:pt x="716" y="4338"/>
                </a:moveTo>
                <a:cubicBezTo>
                  <a:pt x="654" y="2305"/>
                  <a:pt x="2515" y="666"/>
                  <a:pt x="4338" y="716"/>
                </a:cubicBezTo>
                <a:cubicBezTo>
                  <a:pt x="6371" y="654"/>
                  <a:pt x="8010" y="2515"/>
                  <a:pt x="7960" y="4338"/>
                </a:cubicBezTo>
                <a:cubicBezTo>
                  <a:pt x="8022" y="6371"/>
                  <a:pt x="6161" y="8010"/>
                  <a:pt x="4338" y="7960"/>
                </a:cubicBezTo>
                <a:cubicBezTo>
                  <a:pt x="2305" y="8022"/>
                  <a:pt x="666" y="6161"/>
                  <a:pt x="716" y="4338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/>
          </a:p>
        </p:txBody>
      </p:sp>
      <p:grpSp>
        <p:nvGrpSpPr>
          <p:cNvPr id="35" name="Group 34"/>
          <p:cNvGrpSpPr/>
          <p:nvPr/>
        </p:nvGrpSpPr>
        <p:grpSpPr>
          <a:xfrm>
            <a:off x="5631180" y="1550670"/>
            <a:ext cx="6388100" cy="4707890"/>
            <a:chOff x="4372" y="2169"/>
            <a:chExt cx="10060" cy="7414"/>
          </a:xfrm>
        </p:grpSpPr>
        <p:graphicFrame>
          <p:nvGraphicFramePr>
            <p:cNvPr id="6" name="Chart 5">
              <a:hlinkClick r:id="rId4" tooltip="" action="ppaction://hlinksldjump"/>
            </p:cNvPr>
            <p:cNvGraphicFramePr/>
            <p:nvPr/>
          </p:nvGraphicFramePr>
          <p:xfrm>
            <a:off x="4372" y="2169"/>
            <a:ext cx="10060" cy="741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sp>
          <p:nvSpPr>
            <p:cNvPr id="11" name="Text Box 10">
              <a:hlinkClick r:id="rId5" tooltip="" action="ppaction://hlinksldjump"/>
            </p:cNvPr>
            <p:cNvSpPr txBox="1"/>
            <p:nvPr/>
          </p:nvSpPr>
          <p:spPr>
            <a:xfrm rot="20160000">
              <a:off x="8140" y="2865"/>
              <a:ext cx="812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4000" b="1">
                  <a:solidFill>
                    <a:schemeClr val="bg1"/>
                  </a:solidFill>
                </a:rPr>
                <a:t>8</a:t>
              </a:r>
              <a:endParaRPr lang="en-US" sz="4000" b="1">
                <a:solidFill>
                  <a:schemeClr val="bg1"/>
                </a:solidFill>
              </a:endParaRPr>
            </a:p>
          </p:txBody>
        </p:sp>
        <p:sp>
          <p:nvSpPr>
            <p:cNvPr id="12" name="Text Box 11">
              <a:hlinkClick r:id="rId6" tooltip="" action="ppaction://hlinksldjump"/>
            </p:cNvPr>
            <p:cNvSpPr txBox="1"/>
            <p:nvPr/>
          </p:nvSpPr>
          <p:spPr>
            <a:xfrm rot="1140000">
              <a:off x="10061" y="2880"/>
              <a:ext cx="812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4000" b="1">
                  <a:solidFill>
                    <a:schemeClr val="bg1"/>
                  </a:solidFill>
                </a:rPr>
                <a:t>1</a:t>
              </a:r>
              <a:endParaRPr lang="en-US" sz="4000" b="1">
                <a:solidFill>
                  <a:schemeClr val="bg1"/>
                </a:solidFill>
              </a:endParaRPr>
            </a:p>
          </p:txBody>
        </p:sp>
        <p:sp>
          <p:nvSpPr>
            <p:cNvPr id="13" name="Text Box 12">
              <a:hlinkClick r:id="rId7" tooltip="" action="ppaction://hlinksldjump"/>
            </p:cNvPr>
            <p:cNvSpPr txBox="1"/>
            <p:nvPr/>
          </p:nvSpPr>
          <p:spPr>
            <a:xfrm rot="14880000">
              <a:off x="6608" y="6226"/>
              <a:ext cx="812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4000" b="1">
                  <a:solidFill>
                    <a:schemeClr val="bg1"/>
                  </a:solidFill>
                </a:rPr>
                <a:t>6</a:t>
              </a:r>
              <a:endParaRPr lang="en-US" sz="4000" b="1">
                <a:solidFill>
                  <a:schemeClr val="bg1"/>
                </a:solidFill>
              </a:endParaRPr>
            </a:p>
          </p:txBody>
        </p:sp>
        <p:sp>
          <p:nvSpPr>
            <p:cNvPr id="14" name="Text Box 13">
              <a:hlinkClick r:id="rId8" tooltip="" action="ppaction://hlinksldjump"/>
            </p:cNvPr>
            <p:cNvSpPr txBox="1"/>
            <p:nvPr/>
          </p:nvSpPr>
          <p:spPr>
            <a:xfrm rot="17580000">
              <a:off x="6648" y="4085"/>
              <a:ext cx="812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4000" b="1">
                  <a:solidFill>
                    <a:schemeClr val="bg1"/>
                  </a:solidFill>
                </a:rPr>
                <a:t>7</a:t>
              </a:r>
              <a:endParaRPr lang="en-US" sz="4000" b="1">
                <a:solidFill>
                  <a:schemeClr val="bg1"/>
                </a:solidFill>
              </a:endParaRPr>
            </a:p>
          </p:txBody>
        </p:sp>
        <p:sp>
          <p:nvSpPr>
            <p:cNvPr id="26" name="Text Box 25">
              <a:hlinkClick r:id="rId9" tooltip="" action="ppaction://hlinksldjump"/>
            </p:cNvPr>
            <p:cNvSpPr txBox="1"/>
            <p:nvPr/>
          </p:nvSpPr>
          <p:spPr>
            <a:xfrm rot="4020000">
              <a:off x="11436" y="4130"/>
              <a:ext cx="812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4000" b="1">
                  <a:solidFill>
                    <a:schemeClr val="bg1"/>
                  </a:solidFill>
                </a:rPr>
                <a:t>2</a:t>
              </a:r>
              <a:endParaRPr lang="en-US" sz="4000" b="1">
                <a:solidFill>
                  <a:schemeClr val="bg1"/>
                </a:solidFill>
              </a:endParaRPr>
            </a:p>
          </p:txBody>
        </p:sp>
        <p:sp>
          <p:nvSpPr>
            <p:cNvPr id="27" name="Text Box 26">
              <a:hlinkClick r:id="rId10" tooltip="" action="ppaction://hlinksldjump"/>
            </p:cNvPr>
            <p:cNvSpPr txBox="1"/>
            <p:nvPr/>
          </p:nvSpPr>
          <p:spPr>
            <a:xfrm rot="12540000">
              <a:off x="7809" y="7675"/>
              <a:ext cx="812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4000" b="1">
                  <a:solidFill>
                    <a:schemeClr val="bg1"/>
                  </a:solidFill>
                </a:rPr>
                <a:t>5</a:t>
              </a:r>
              <a:endParaRPr lang="en-US" sz="4000" b="1">
                <a:solidFill>
                  <a:schemeClr val="bg1"/>
                </a:solidFill>
              </a:endParaRPr>
            </a:p>
          </p:txBody>
        </p:sp>
        <p:sp>
          <p:nvSpPr>
            <p:cNvPr id="29" name="Text Box 28">
              <a:hlinkClick r:id="rId11" tooltip="" action="ppaction://hlinksldjump"/>
            </p:cNvPr>
            <p:cNvSpPr txBox="1"/>
            <p:nvPr/>
          </p:nvSpPr>
          <p:spPr>
            <a:xfrm rot="6720000">
              <a:off x="11439" y="6364"/>
              <a:ext cx="812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4000" b="1">
                  <a:solidFill>
                    <a:schemeClr val="bg1"/>
                  </a:solidFill>
                </a:rPr>
                <a:t>3</a:t>
              </a:r>
              <a:endParaRPr lang="en-US" sz="4000" b="1">
                <a:solidFill>
                  <a:schemeClr val="bg1"/>
                </a:solidFill>
              </a:endParaRPr>
            </a:p>
          </p:txBody>
        </p:sp>
        <p:sp>
          <p:nvSpPr>
            <p:cNvPr id="30" name="Text Box 29">
              <a:hlinkClick r:id="rId4" tooltip="" action="ppaction://hlinksldjump"/>
            </p:cNvPr>
            <p:cNvSpPr txBox="1"/>
            <p:nvPr/>
          </p:nvSpPr>
          <p:spPr>
            <a:xfrm rot="9420000">
              <a:off x="9937" y="7531"/>
              <a:ext cx="812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4000" b="1">
                  <a:solidFill>
                    <a:schemeClr val="bg1"/>
                  </a:solidFill>
                </a:rPr>
                <a:t>4</a:t>
              </a:r>
              <a:endParaRPr lang="en-US" sz="4000" b="1">
                <a:solidFill>
                  <a:schemeClr val="bg1"/>
                </a:solidFill>
              </a:endParaRPr>
            </a:p>
          </p:txBody>
        </p:sp>
      </p:grpSp>
      <p:sp>
        <p:nvSpPr>
          <p:cNvPr id="32" name="Oval 31"/>
          <p:cNvSpPr/>
          <p:nvPr/>
        </p:nvSpPr>
        <p:spPr>
          <a:xfrm>
            <a:off x="8684260" y="3748405"/>
            <a:ext cx="312420" cy="31242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" name="Isosceles Triangle 32"/>
          <p:cNvSpPr/>
          <p:nvPr/>
        </p:nvSpPr>
        <p:spPr>
          <a:xfrm rot="5400000">
            <a:off x="6788150" y="3573780"/>
            <a:ext cx="280670" cy="734060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1755775" y="4109085"/>
            <a:ext cx="1517015" cy="12198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7" name="Text Box 36"/>
          <p:cNvSpPr txBox="1"/>
          <p:nvPr/>
        </p:nvSpPr>
        <p:spPr>
          <a:xfrm>
            <a:off x="1861820" y="4396105"/>
            <a:ext cx="1305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>
                <a:solidFill>
                  <a:schemeClr val="bg1"/>
                </a:solidFill>
              </a:rPr>
              <a:t>quay</a:t>
            </a:r>
            <a:endParaRPr lang="en-US" sz="3600" b="1">
              <a:solidFill>
                <a:schemeClr val="bg1"/>
              </a:solidFill>
            </a:endParaRPr>
          </a:p>
        </p:txBody>
      </p:sp>
      <p:sp>
        <p:nvSpPr>
          <p:cNvPr id="40" name="Text Box 39"/>
          <p:cNvSpPr txBox="1"/>
          <p:nvPr/>
        </p:nvSpPr>
        <p:spPr>
          <a:xfrm>
            <a:off x="0" y="6258560"/>
            <a:ext cx="28670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t</a:t>
            </a:r>
            <a:r>
              <a:rPr lang="vi-VN" altLang="en-US"/>
              <a:t>ự nhớ số nhé!</a:t>
            </a:r>
            <a:endParaRPr lang="vi-VN" altLang="en-US"/>
          </a:p>
          <a:p>
            <a:r>
              <a:rPr lang="vi-VN" altLang="en-US"/>
              <a:t>t del bt lm cho nó mất số</a:t>
            </a:r>
            <a:endParaRPr lang="vi-VN" altLang="en-US"/>
          </a:p>
          <a:p>
            <a:endParaRPr lang="vi-V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1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7"/>
            <a:ext cx="12192000" cy="6842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0525" y="2766060"/>
            <a:ext cx="10515600" cy="1325563"/>
          </a:xfrm>
        </p:spPr>
        <p:txBody>
          <a:bodyPr/>
          <a:p>
            <a:r>
              <a:rPr lang="vi-VN" altLang="en-US"/>
              <a:t>hết bài ;-;</a:t>
            </a:r>
            <a:endParaRPr lang="vi-VN" altLang="en-US"/>
          </a:p>
        </p:txBody>
      </p:sp>
      <p:sp>
        <p:nvSpPr>
          <p:cNvPr id="29" name="Action Button: Go Home 28">
            <a:hlinkClick r:id="rId2" action="ppaction://hlinksldjump" highlightClick="1"/>
          </p:cNvPr>
          <p:cNvSpPr/>
          <p:nvPr/>
        </p:nvSpPr>
        <p:spPr>
          <a:xfrm>
            <a:off x="11493296" y="129090"/>
            <a:ext cx="560438" cy="560438"/>
          </a:xfrm>
          <a:prstGeom prst="actionButtonHom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1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365" cy="705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a black cat with a white spot on its chest looks at the camer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10958051" y="6049202"/>
            <a:ext cx="1233947" cy="82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a black cat with a white spot on its chest looks at the camer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1" y="6079918"/>
            <a:ext cx="1233947" cy="82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8" title="idk"/>
          <p:cNvSpPr/>
          <p:nvPr/>
        </p:nvSpPr>
        <p:spPr>
          <a:xfrm>
            <a:off x="1487805" y="259588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869440" y="270129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A</a:t>
            </a:r>
            <a:r>
              <a:rPr lang="en-US" sz="2400">
                <a:solidFill>
                  <a:schemeClr val="bg1"/>
                </a:solidFill>
              </a:rPr>
              <a:t>)   </a:t>
            </a:r>
            <a:r>
              <a:rPr lang="vi-VN" altLang="en-US" sz="2400">
                <a:solidFill>
                  <a:schemeClr val="bg1"/>
                </a:solidFill>
              </a:rPr>
              <a:t>    quy mô nhỏ, gia đình hoặc các nhân lm chủ </a:t>
            </a:r>
            <a:endParaRPr lang="vi-VN" altLang="en-US" sz="2400">
              <a:solidFill>
                <a:schemeClr val="bg1"/>
              </a:solidFill>
            </a:endParaRPr>
          </a:p>
        </p:txBody>
      </p:sp>
      <p:sp>
        <p:nvSpPr>
          <p:cNvPr id="15" name="Rounded Rectangle 14" title="idk"/>
          <p:cNvSpPr/>
          <p:nvPr/>
        </p:nvSpPr>
        <p:spPr>
          <a:xfrm>
            <a:off x="1487805" y="358013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1869440" y="368554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B</a:t>
            </a:r>
            <a:r>
              <a:rPr lang="en-US" sz="2400">
                <a:solidFill>
                  <a:schemeClr val="bg1"/>
                </a:solidFill>
              </a:rPr>
              <a:t>)         </a:t>
            </a:r>
            <a:r>
              <a:rPr lang="vi-VN" altLang="en-US" sz="2400">
                <a:solidFill>
                  <a:schemeClr val="bg1"/>
                </a:solidFill>
              </a:rPr>
              <a:t>quy mô lớn, nhiều lao động chuyên nghiệp</a:t>
            </a:r>
            <a:endParaRPr lang="vi-VN" altLang="en-US" sz="2400">
              <a:solidFill>
                <a:schemeClr val="bg1"/>
              </a:solidFill>
            </a:endParaRPr>
          </a:p>
        </p:txBody>
      </p:sp>
      <p:sp>
        <p:nvSpPr>
          <p:cNvPr id="17" name="Rounded Rectangle 16" title="idk"/>
          <p:cNvSpPr/>
          <p:nvPr/>
        </p:nvSpPr>
        <p:spPr>
          <a:xfrm>
            <a:off x="1487805" y="456438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1869440" y="466979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C</a:t>
            </a:r>
            <a:r>
              <a:rPr lang="en-US" sz="2400">
                <a:solidFill>
                  <a:schemeClr val="bg1"/>
                </a:solidFill>
              </a:rPr>
              <a:t>)                                  </a:t>
            </a:r>
            <a:r>
              <a:rPr lang="vi-VN" altLang="en-US" sz="2400">
                <a:solidFill>
                  <a:schemeClr val="bg1"/>
                </a:solidFill>
              </a:rPr>
              <a:t>là gì ăn được không</a:t>
            </a:r>
            <a:endParaRPr lang="vi-VN" altLang="en-US" sz="2400">
              <a:solidFill>
                <a:schemeClr val="bg1"/>
              </a:solidFill>
            </a:endParaRPr>
          </a:p>
        </p:txBody>
      </p:sp>
      <p:sp>
        <p:nvSpPr>
          <p:cNvPr id="19" name="Rounded Rectangle 18" title="idk"/>
          <p:cNvSpPr/>
          <p:nvPr/>
        </p:nvSpPr>
        <p:spPr>
          <a:xfrm>
            <a:off x="1487805" y="554863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1869440" y="565404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D</a:t>
            </a:r>
            <a:r>
              <a:rPr lang="en-US" sz="2400">
                <a:solidFill>
                  <a:schemeClr val="bg1"/>
                </a:solidFill>
              </a:rPr>
              <a:t>)         </a:t>
            </a:r>
            <a:r>
              <a:rPr lang="vi-VN" altLang="en-US" sz="2400">
                <a:solidFill>
                  <a:schemeClr val="bg1"/>
                </a:solidFill>
              </a:rPr>
              <a:t>hoạt động chủ yếu trong công nghiệp nặng</a:t>
            </a:r>
            <a:endParaRPr lang="vi-VN" altLang="en-US" sz="2400">
              <a:solidFill>
                <a:schemeClr val="bg1"/>
              </a:solidFill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1064260" y="652780"/>
            <a:ext cx="9469755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6000" b="1">
                <a:latin typeface="+mn-ea"/>
                <a:cs typeface="+mn-ea"/>
              </a:rPr>
              <a:t>câu 1:</a:t>
            </a:r>
            <a:r>
              <a:rPr lang="vi-VN" altLang="en-US" sz="6000"/>
              <a:t> </a:t>
            </a:r>
            <a:r>
              <a:rPr lang="vi-VN" altLang="en-US" sz="4400"/>
              <a:t>đặc điểm phổ biến của hộ sản xuất kinh doanh là gì?</a:t>
            </a:r>
            <a:endParaRPr lang="en-US" sz="4400"/>
          </a:p>
        </p:txBody>
      </p:sp>
      <p:sp>
        <p:nvSpPr>
          <p:cNvPr id="29" name="Action Button: Go Home 28">
            <a:hlinkClick r:id="rId3" action="ppaction://hlinksldjump" highlightClick="1"/>
          </p:cNvPr>
          <p:cNvSpPr/>
          <p:nvPr/>
        </p:nvSpPr>
        <p:spPr>
          <a:xfrm>
            <a:off x="11493296" y="129090"/>
            <a:ext cx="560438" cy="560438"/>
          </a:xfrm>
          <a:prstGeom prst="actionButtonHom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480" y="4669790"/>
            <a:ext cx="529590" cy="5092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9e41a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9e41a"/>
                                      </p:to>
                                    </p:animClr>
                                    <p:set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1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365" cy="705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a black cat with a white spot on its chest looks at the camer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10958051" y="6049202"/>
            <a:ext cx="1233947" cy="82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a black cat with a white spot on its chest looks at the camer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1" y="6079918"/>
            <a:ext cx="1233947" cy="82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8" title="idk"/>
          <p:cNvSpPr/>
          <p:nvPr/>
        </p:nvSpPr>
        <p:spPr>
          <a:xfrm>
            <a:off x="1487805" y="259588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869440" y="270129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A</a:t>
            </a:r>
            <a:r>
              <a:rPr lang="en-US" sz="2400">
                <a:solidFill>
                  <a:schemeClr val="bg1"/>
                </a:solidFill>
              </a:rPr>
              <a:t>)              Chỉ chịu trách nhiệm trong phạm vi vốn góp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15" name="Rounded Rectangle 14" title="idk"/>
          <p:cNvSpPr/>
          <p:nvPr/>
        </p:nvSpPr>
        <p:spPr>
          <a:xfrm>
            <a:off x="1487805" y="358013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1869440" y="368554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B</a:t>
            </a:r>
            <a:r>
              <a:rPr lang="en-US" sz="2400">
                <a:solidFill>
                  <a:schemeClr val="bg1"/>
                </a:solidFill>
              </a:rPr>
              <a:t>) </a:t>
            </a:r>
            <a:r>
              <a:rPr lang="vi-VN" altLang="en-US" sz="2400">
                <a:solidFill>
                  <a:schemeClr val="bg1"/>
                </a:solidFill>
              </a:rPr>
              <a:t>        </a:t>
            </a:r>
            <a:r>
              <a:rPr lang="en-US">
                <a:solidFill>
                  <a:schemeClr val="bg1"/>
                </a:solidFill>
              </a:rPr>
              <a:t>Chịu trách nhiệm vô hạn bằng toàn bộ tài sản cá nhân hoặc gia đình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Rounded Rectangle 16" title="idk"/>
          <p:cNvSpPr/>
          <p:nvPr/>
        </p:nvSpPr>
        <p:spPr>
          <a:xfrm>
            <a:off x="1487805" y="456438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1869440" y="466979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C</a:t>
            </a:r>
            <a:r>
              <a:rPr lang="en-US" sz="2400">
                <a:solidFill>
                  <a:schemeClr val="bg1"/>
                </a:solidFill>
              </a:rPr>
              <a:t>)                </a:t>
            </a:r>
            <a:r>
              <a:rPr lang="vi-VN" altLang="en-US" sz="2400">
                <a:solidFill>
                  <a:schemeClr val="bg1"/>
                </a:solidFill>
              </a:rPr>
              <a:t>              không trả cơ lêu lêu </a:t>
            </a:r>
            <a:endParaRPr lang="vi-VN" altLang="en-US" sz="2400">
              <a:solidFill>
                <a:schemeClr val="bg1"/>
              </a:solidFill>
            </a:endParaRPr>
          </a:p>
        </p:txBody>
      </p:sp>
      <p:sp>
        <p:nvSpPr>
          <p:cNvPr id="19" name="Rounded Rectangle 18" title="idk"/>
          <p:cNvSpPr/>
          <p:nvPr/>
        </p:nvSpPr>
        <p:spPr>
          <a:xfrm>
            <a:off x="1487805" y="554863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1869440" y="565404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D</a:t>
            </a:r>
            <a:r>
              <a:rPr lang="en-US" sz="2400">
                <a:solidFill>
                  <a:schemeClr val="bg1"/>
                </a:solidFill>
              </a:rPr>
              <a:t>)          </a:t>
            </a:r>
            <a:r>
              <a:rPr lang="en-US" sz="2800">
                <a:solidFill>
                  <a:schemeClr val="bg1"/>
                </a:solidFill>
              </a:rPr>
              <a:t>Chỉ chịu trách nhiệm bằng tài sản kinh doanh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283210" y="547370"/>
            <a:ext cx="11625580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6000" b="1">
                <a:latin typeface="+mn-ea"/>
                <a:cs typeface="+mn-ea"/>
              </a:rPr>
              <a:t>câu 2:</a:t>
            </a:r>
            <a:r>
              <a:rPr lang="vi-VN" altLang="en-US" sz="6000"/>
              <a:t> </a:t>
            </a:r>
            <a:r>
              <a:rPr lang="en-US" sz="4400"/>
              <a:t>Hộ kinh doanh cá thể thường chịu trách nhiệm như thế nào đối với các khoản nợ?</a:t>
            </a:r>
            <a:endParaRPr lang="en-US" sz="4400"/>
          </a:p>
        </p:txBody>
      </p:sp>
      <p:sp>
        <p:nvSpPr>
          <p:cNvPr id="29" name="Action Button: Go Home 28">
            <a:hlinkClick r:id="rId3" action="ppaction://hlinksldjump" highlightClick="1"/>
          </p:cNvPr>
          <p:cNvSpPr/>
          <p:nvPr/>
        </p:nvSpPr>
        <p:spPr>
          <a:xfrm>
            <a:off x="11493296" y="129090"/>
            <a:ext cx="560438" cy="560438"/>
          </a:xfrm>
          <a:prstGeom prst="actionButtonHom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9e41a"/>
                                      </p:to>
                                    </p:animClr>
                                    <p:set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9e41a"/>
                                      </p:to>
                                    </p:animClr>
                                    <p:set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1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365" cy="705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a black cat with a white spot on its chest looks at the camer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10958051" y="6049202"/>
            <a:ext cx="1233947" cy="82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a black cat with a white spot on its chest looks at the camer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1" y="6079918"/>
            <a:ext cx="1233947" cy="82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8" title="idk"/>
          <p:cNvSpPr/>
          <p:nvPr/>
        </p:nvSpPr>
        <p:spPr>
          <a:xfrm>
            <a:off x="1487805" y="259588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869440" y="270129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A</a:t>
            </a:r>
            <a:r>
              <a:rPr lang="en-US" sz="2400">
                <a:solidFill>
                  <a:schemeClr val="bg1"/>
                </a:solidFill>
              </a:rPr>
              <a:t>)                        </a:t>
            </a:r>
            <a:r>
              <a:rPr lang="en-US" sz="2800">
                <a:solidFill>
                  <a:schemeClr val="bg1"/>
                </a:solidFill>
              </a:rPr>
              <a:t>Thuế thu nhập doanh nghiệp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5" name="Rounded Rectangle 14" title="idk"/>
          <p:cNvSpPr/>
          <p:nvPr/>
        </p:nvSpPr>
        <p:spPr>
          <a:xfrm>
            <a:off x="1487805" y="358013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1869440" y="368554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B</a:t>
            </a:r>
            <a:r>
              <a:rPr lang="en-US" sz="2400">
                <a:solidFill>
                  <a:schemeClr val="bg1"/>
                </a:solidFill>
              </a:rPr>
              <a:t>)              </a:t>
            </a:r>
            <a:r>
              <a:rPr lang="en-US" sz="2800">
                <a:solidFill>
                  <a:schemeClr val="bg1"/>
                </a:solidFill>
              </a:rPr>
              <a:t>Thuế theo phương pháp kê khai chi tiết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7" name="Rounded Rectangle 16" title="idk"/>
          <p:cNvSpPr/>
          <p:nvPr/>
        </p:nvSpPr>
        <p:spPr>
          <a:xfrm>
            <a:off x="1487805" y="456438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1869440" y="466979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C</a:t>
            </a:r>
            <a:r>
              <a:rPr lang="en-US" sz="2400">
                <a:solidFill>
                  <a:schemeClr val="bg1"/>
                </a:solidFill>
              </a:rPr>
              <a:t>)               </a:t>
            </a:r>
            <a:r>
              <a:rPr lang="vi-VN" altLang="en-US" sz="2400">
                <a:solidFill>
                  <a:schemeClr val="bg1"/>
                </a:solidFill>
              </a:rPr>
              <a:t>                     </a:t>
            </a:r>
            <a:r>
              <a:rPr lang="en-US" sz="2800">
                <a:solidFill>
                  <a:schemeClr val="bg1"/>
                </a:solidFill>
              </a:rPr>
              <a:t>Thuế khoán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9" name="Rounded Rectangle 18" title="idk"/>
          <p:cNvSpPr/>
          <p:nvPr/>
        </p:nvSpPr>
        <p:spPr>
          <a:xfrm>
            <a:off x="1487805" y="554863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1869440" y="565404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D</a:t>
            </a:r>
            <a:r>
              <a:rPr lang="en-US" sz="2400">
                <a:solidFill>
                  <a:schemeClr val="bg1"/>
                </a:solidFill>
              </a:rPr>
              <a:t>)                        </a:t>
            </a:r>
            <a:r>
              <a:rPr lang="vi-VN" altLang="en-US" sz="2400">
                <a:solidFill>
                  <a:schemeClr val="bg1"/>
                </a:solidFill>
              </a:rPr>
              <a:t>    </a:t>
            </a:r>
            <a:r>
              <a:rPr lang="en-US" sz="2800">
                <a:solidFill>
                  <a:schemeClr val="bg1"/>
                </a:solidFill>
              </a:rPr>
              <a:t>Thuế xuất nhập khẩu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1233805" y="652780"/>
            <a:ext cx="10004425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6000" b="1">
                <a:latin typeface="+mn-ea"/>
                <a:cs typeface="+mn-ea"/>
              </a:rPr>
              <a:t>câu 3:</a:t>
            </a:r>
            <a:r>
              <a:rPr lang="vi-VN" altLang="en-US" sz="6000"/>
              <a:t> </a:t>
            </a:r>
            <a:r>
              <a:rPr lang="en-US" sz="4400"/>
              <a:t>Phương thức nộp thuế phổ biến của các hộ kinh doanh cá thể là gì?</a:t>
            </a:r>
            <a:endParaRPr lang="en-US" sz="4400"/>
          </a:p>
        </p:txBody>
      </p:sp>
      <p:sp>
        <p:nvSpPr>
          <p:cNvPr id="29" name="Action Button: Go Home 28">
            <a:hlinkClick r:id="rId3" action="ppaction://hlinksldjump" highlightClick="1"/>
          </p:cNvPr>
          <p:cNvSpPr/>
          <p:nvPr/>
        </p:nvSpPr>
        <p:spPr>
          <a:xfrm>
            <a:off x="11493296" y="129090"/>
            <a:ext cx="560438" cy="560438"/>
          </a:xfrm>
          <a:prstGeom prst="actionButtonHom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9e41a"/>
                                      </p:to>
                                    </p:animClr>
                                    <p:set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9e41a"/>
                                      </p:to>
                                    </p:animClr>
                                    <p:set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1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365" cy="705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a black cat with a white spot on its chest looks at the camer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10958051" y="6049202"/>
            <a:ext cx="1233947" cy="82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a black cat with a white spot on its chest looks at the camer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1" y="6079918"/>
            <a:ext cx="1233947" cy="82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8" title="idk"/>
          <p:cNvSpPr/>
          <p:nvPr/>
        </p:nvSpPr>
        <p:spPr>
          <a:xfrm>
            <a:off x="1487805" y="259588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869440" y="270129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A</a:t>
            </a:r>
            <a:r>
              <a:rPr lang="en-US" sz="2400">
                <a:solidFill>
                  <a:schemeClr val="bg1"/>
                </a:solidFill>
              </a:rPr>
              <a:t>)               </a:t>
            </a:r>
            <a:r>
              <a:rPr lang="vi-VN" altLang="en-US" sz="2400">
                <a:solidFill>
                  <a:schemeClr val="bg1"/>
                </a:solidFill>
              </a:rPr>
              <a:t>	</a:t>
            </a:r>
            <a:r>
              <a:rPr lang="en-US" sz="2800">
                <a:solidFill>
                  <a:schemeClr val="bg1"/>
                </a:solidFill>
              </a:rPr>
              <a:t>Công nghiệp nặng và khai khoáng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5" name="Rounded Rectangle 14" title="idk"/>
          <p:cNvSpPr/>
          <p:nvPr/>
        </p:nvSpPr>
        <p:spPr>
          <a:xfrm>
            <a:off x="1487805" y="358013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1869440" y="368554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B</a:t>
            </a:r>
            <a:r>
              <a:rPr lang="en-US" sz="2400">
                <a:solidFill>
                  <a:schemeClr val="bg1"/>
                </a:solidFill>
              </a:rPr>
              <a:t>)              </a:t>
            </a:r>
            <a:r>
              <a:rPr lang="en-US" sz="2800">
                <a:solidFill>
                  <a:schemeClr val="bg1"/>
                </a:solidFill>
              </a:rPr>
              <a:t>Dịch vụ, thương mại và tiểu thủ công nghiệp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7" name="Rounded Rectangle 16" title="idk"/>
          <p:cNvSpPr/>
          <p:nvPr/>
        </p:nvSpPr>
        <p:spPr>
          <a:xfrm>
            <a:off x="1487805" y="456438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1869440" y="466979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C</a:t>
            </a:r>
            <a:r>
              <a:rPr lang="en-US" sz="2400">
                <a:solidFill>
                  <a:schemeClr val="bg1"/>
                </a:solidFill>
              </a:rPr>
              <a:t>)              </a:t>
            </a:r>
            <a:r>
              <a:rPr lang="vi-VN" altLang="en-US" sz="2400">
                <a:solidFill>
                  <a:schemeClr val="bg1"/>
                </a:solidFill>
              </a:rPr>
              <a:t>	</a:t>
            </a:r>
            <a:r>
              <a:rPr lang="en-US" sz="2800">
                <a:solidFill>
                  <a:schemeClr val="bg1"/>
                </a:solidFill>
              </a:rPr>
              <a:t>Công nghệ hàng không vũ trụ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9" name="Rounded Rectangle 18" title="idk"/>
          <p:cNvSpPr/>
          <p:nvPr/>
        </p:nvSpPr>
        <p:spPr>
          <a:xfrm>
            <a:off x="1487805" y="554863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1869440" y="565404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D</a:t>
            </a:r>
            <a:r>
              <a:rPr lang="en-US" sz="2400">
                <a:solidFill>
                  <a:schemeClr val="bg1"/>
                </a:solidFill>
              </a:rPr>
              <a:t>)                  </a:t>
            </a:r>
            <a:r>
              <a:rPr lang="vi-VN" altLang="en-US" sz="2400">
                <a:solidFill>
                  <a:schemeClr val="bg1"/>
                </a:solidFill>
              </a:rPr>
              <a:t>	     </a:t>
            </a:r>
            <a:r>
              <a:rPr lang="en-US" sz="2800">
                <a:solidFill>
                  <a:schemeClr val="bg1"/>
                </a:solidFill>
              </a:rPr>
              <a:t>Sản xuất ô tô quy mô lớn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957580" y="332740"/>
            <a:ext cx="10406380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6000" b="1">
                <a:latin typeface="+mn-ea"/>
                <a:cs typeface="+mn-ea"/>
              </a:rPr>
              <a:t>câu 4:</a:t>
            </a:r>
            <a:r>
              <a:rPr lang="vi-VN" altLang="en-US" sz="6000"/>
              <a:t> </a:t>
            </a:r>
            <a:r>
              <a:rPr lang="en-US" sz="4400"/>
              <a:t>Lĩnh vực hoạt động phổ biến của các hộ kinh doanh tại Hải Phòng là gì?</a:t>
            </a:r>
            <a:endParaRPr lang="en-US" sz="4400"/>
          </a:p>
        </p:txBody>
      </p:sp>
      <p:sp>
        <p:nvSpPr>
          <p:cNvPr id="29" name="Action Button: Go Home 28">
            <a:hlinkClick r:id="rId3" action="ppaction://hlinksldjump" highlightClick="1"/>
          </p:cNvPr>
          <p:cNvSpPr/>
          <p:nvPr/>
        </p:nvSpPr>
        <p:spPr>
          <a:xfrm>
            <a:off x="11493296" y="129090"/>
            <a:ext cx="560438" cy="560438"/>
          </a:xfrm>
          <a:prstGeom prst="actionButtonHom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9e41a"/>
                                      </p:to>
                                    </p:animClr>
                                    <p:set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9e41a"/>
                                      </p:to>
                                    </p:animClr>
                                    <p:set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1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365" cy="705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a black cat with a white spot on its chest looks at the camer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10958051" y="6049202"/>
            <a:ext cx="1233947" cy="82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a black cat with a white spot on its chest looks at the camer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1" y="6079918"/>
            <a:ext cx="1233947" cy="82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8" title="idk"/>
          <p:cNvSpPr/>
          <p:nvPr/>
        </p:nvSpPr>
        <p:spPr>
          <a:xfrm>
            <a:off x="1487805" y="259588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869440" y="270129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A</a:t>
            </a:r>
            <a:r>
              <a:rPr lang="en-US" sz="2400">
                <a:solidFill>
                  <a:schemeClr val="bg1"/>
                </a:solidFill>
              </a:rPr>
              <a:t>)                  </a:t>
            </a:r>
            <a:r>
              <a:rPr lang="vi-VN" altLang="en-US" sz="2400">
                <a:solidFill>
                  <a:schemeClr val="bg1"/>
                </a:solidFill>
              </a:rPr>
              <a:t>	    </a:t>
            </a:r>
            <a:r>
              <a:rPr lang="en-US" sz="2800">
                <a:solidFill>
                  <a:schemeClr val="bg1"/>
                </a:solidFill>
              </a:rPr>
              <a:t>Nguồn khoáng sản dồi dào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5" name="Rounded Rectangle 14" title="idk"/>
          <p:cNvSpPr/>
          <p:nvPr/>
        </p:nvSpPr>
        <p:spPr>
          <a:xfrm>
            <a:off x="1487805" y="358013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1869440" y="368554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B</a:t>
            </a:r>
            <a:r>
              <a:rPr lang="en-US" sz="2400">
                <a:solidFill>
                  <a:schemeClr val="bg1"/>
                </a:solidFill>
              </a:rPr>
              <a:t>)            </a:t>
            </a:r>
            <a:r>
              <a:rPr lang="en-US" sz="2400">
                <a:solidFill>
                  <a:schemeClr val="bg1"/>
                </a:solidFill>
                <a:sym typeface="+mn-ea"/>
              </a:rPr>
              <a:t> </a:t>
            </a:r>
            <a:r>
              <a:rPr lang="en-US" sz="2800">
                <a:solidFill>
                  <a:schemeClr val="bg1"/>
                </a:solidFill>
                <a:sym typeface="+mn-ea"/>
              </a:rPr>
              <a:t>Hệ thống cảng biển và giao thông thuận lợi</a:t>
            </a:r>
            <a:endParaRPr lang="en-US" sz="2800">
              <a:solidFill>
                <a:schemeClr val="bg1"/>
              </a:solidFill>
              <a:sym typeface="+mn-ea"/>
            </a:endParaRPr>
          </a:p>
        </p:txBody>
      </p:sp>
      <p:sp>
        <p:nvSpPr>
          <p:cNvPr id="17" name="Rounded Rectangle 16" title="idk"/>
          <p:cNvSpPr/>
          <p:nvPr/>
        </p:nvSpPr>
        <p:spPr>
          <a:xfrm>
            <a:off x="1487805" y="456438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1869440" y="466979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C</a:t>
            </a:r>
            <a:r>
              <a:rPr lang="en-US" sz="2400">
                <a:solidFill>
                  <a:schemeClr val="bg1"/>
                </a:solidFill>
              </a:rPr>
              <a:t>)                          </a:t>
            </a:r>
            <a:r>
              <a:rPr lang="en-US" sz="2800">
                <a:solidFill>
                  <a:schemeClr val="bg1"/>
                </a:solidFill>
              </a:rPr>
              <a:t>Khí hậu lạnh quanh năm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9" name="Rounded Rectangle 18" title="idk"/>
          <p:cNvSpPr/>
          <p:nvPr/>
        </p:nvSpPr>
        <p:spPr>
          <a:xfrm>
            <a:off x="1487805" y="554863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1869440" y="565404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D</a:t>
            </a:r>
            <a:r>
              <a:rPr lang="en-US" sz="2400">
                <a:solidFill>
                  <a:schemeClr val="bg1"/>
                </a:solidFill>
              </a:rPr>
              <a:t>)                 </a:t>
            </a:r>
            <a:r>
              <a:rPr lang="en-US" sz="2800">
                <a:solidFill>
                  <a:schemeClr val="bg1"/>
                </a:solidFill>
              </a:rPr>
              <a:t>Diện tích đất nông nghiệp rất lớn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656590" y="422910"/>
            <a:ext cx="10567035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6000" b="1">
                <a:latin typeface="+mn-ea"/>
                <a:cs typeface="+mn-ea"/>
              </a:rPr>
              <a:t>câu 5:</a:t>
            </a:r>
            <a:r>
              <a:rPr lang="vi-VN" altLang="en-US" sz="6000"/>
              <a:t> </a:t>
            </a:r>
            <a:r>
              <a:rPr lang="en-US" sz="4400"/>
              <a:t>Một trong những lợi thế giúp hộ kinh doanh tại Hải Phòng phát triển là gì?</a:t>
            </a:r>
            <a:endParaRPr lang="en-US" sz="4400"/>
          </a:p>
        </p:txBody>
      </p:sp>
      <p:sp>
        <p:nvSpPr>
          <p:cNvPr id="29" name="Action Button: Go Home 28">
            <a:hlinkClick r:id="rId3" action="ppaction://hlinksldjump" highlightClick="1"/>
          </p:cNvPr>
          <p:cNvSpPr/>
          <p:nvPr/>
        </p:nvSpPr>
        <p:spPr>
          <a:xfrm>
            <a:off x="11493296" y="129090"/>
            <a:ext cx="560438" cy="560438"/>
          </a:xfrm>
          <a:prstGeom prst="actionButtonHom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9e41a"/>
                                      </p:to>
                                    </p:animClr>
                                    <p:set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9e41a"/>
                                      </p:to>
                                    </p:animClr>
                                    <p:set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1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365" cy="705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a black cat with a white spot on its chest looks at the camer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10958051" y="6049202"/>
            <a:ext cx="1233947" cy="82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a black cat with a white spot on its chest looks at the camer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1" y="6079918"/>
            <a:ext cx="1233947" cy="82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8" title="idk"/>
          <p:cNvSpPr/>
          <p:nvPr/>
        </p:nvSpPr>
        <p:spPr>
          <a:xfrm>
            <a:off x="1487805" y="259588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869440" y="270129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A</a:t>
            </a:r>
            <a:r>
              <a:rPr lang="en-US" sz="2400">
                <a:solidFill>
                  <a:schemeClr val="bg1"/>
                </a:solidFill>
              </a:rPr>
              <a:t>)                            </a:t>
            </a:r>
            <a:r>
              <a:rPr lang="en-US" sz="2800">
                <a:solidFill>
                  <a:schemeClr val="bg1"/>
                </a:solidFill>
              </a:rPr>
              <a:t> Khoảng 50.000 hộ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5" name="Rounded Rectangle 14" title="idk"/>
          <p:cNvSpPr/>
          <p:nvPr/>
        </p:nvSpPr>
        <p:spPr>
          <a:xfrm>
            <a:off x="1487805" y="358013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1869440" y="368554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B</a:t>
            </a:r>
            <a:r>
              <a:rPr lang="en-US" sz="2400">
                <a:solidFill>
                  <a:schemeClr val="bg1"/>
                </a:solidFill>
              </a:rPr>
              <a:t>)                             </a:t>
            </a:r>
            <a:r>
              <a:rPr lang="en-US" sz="2800">
                <a:solidFill>
                  <a:schemeClr val="bg1"/>
                </a:solidFill>
              </a:rPr>
              <a:t>Khoảng </a:t>
            </a:r>
            <a:r>
              <a:rPr lang="vi-VN" altLang="en-US" sz="2800">
                <a:solidFill>
                  <a:schemeClr val="bg1"/>
                </a:solidFill>
              </a:rPr>
              <a:t>8</a:t>
            </a:r>
            <a:r>
              <a:rPr lang="en-US" sz="2800">
                <a:solidFill>
                  <a:schemeClr val="bg1"/>
                </a:solidFill>
              </a:rPr>
              <a:t>0.000 hộ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7" name="Rounded Rectangle 16" title="idk"/>
          <p:cNvSpPr/>
          <p:nvPr/>
        </p:nvSpPr>
        <p:spPr>
          <a:xfrm>
            <a:off x="1487805" y="456438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1869440" y="466979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C</a:t>
            </a:r>
            <a:r>
              <a:rPr lang="en-US" sz="2400">
                <a:solidFill>
                  <a:schemeClr val="bg1"/>
                </a:solidFill>
              </a:rPr>
              <a:t>)                             </a:t>
            </a:r>
            <a:r>
              <a:rPr lang="en-US" sz="2800">
                <a:solidFill>
                  <a:schemeClr val="bg1"/>
                </a:solidFill>
              </a:rPr>
              <a:t>Gần 150.000 hộ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9" name="Rounded Rectangle 18" title="idk"/>
          <p:cNvSpPr/>
          <p:nvPr/>
        </p:nvSpPr>
        <p:spPr>
          <a:xfrm>
            <a:off x="1487805" y="554863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1886585" y="565404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D</a:t>
            </a:r>
            <a:r>
              <a:rPr lang="en-US" sz="2400">
                <a:solidFill>
                  <a:schemeClr val="bg1"/>
                </a:solidFill>
              </a:rPr>
              <a:t>)                              </a:t>
            </a:r>
            <a:r>
              <a:rPr lang="vi-VN" altLang="en-US" sz="2800">
                <a:solidFill>
                  <a:schemeClr val="bg1"/>
                </a:solidFill>
              </a:rPr>
              <a:t>Hơn</a:t>
            </a:r>
            <a:r>
              <a:rPr lang="en-US" sz="2800">
                <a:solidFill>
                  <a:schemeClr val="bg1"/>
                </a:solidFill>
              </a:rPr>
              <a:t> 5</a:t>
            </a:r>
            <a:r>
              <a:rPr lang="vi-VN" altLang="en-US" sz="2800">
                <a:solidFill>
                  <a:schemeClr val="bg1"/>
                </a:solidFill>
              </a:rPr>
              <a:t>0</a:t>
            </a:r>
            <a:r>
              <a:rPr lang="en-US" sz="2800">
                <a:solidFill>
                  <a:schemeClr val="bg1"/>
                </a:solidFill>
              </a:rPr>
              <a:t>0.000 hộ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1233805" y="128905"/>
            <a:ext cx="10367010" cy="23685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6000" b="1">
                <a:latin typeface="+mn-ea"/>
                <a:cs typeface="+mn-ea"/>
              </a:rPr>
              <a:t>câu 6:</a:t>
            </a:r>
            <a:r>
              <a:rPr lang="vi-VN" altLang="en-US" sz="6000"/>
              <a:t> </a:t>
            </a:r>
            <a:r>
              <a:rPr lang="en-US" sz="4400"/>
              <a:t>Số lượng hộ sản xuất, kinh doanh cá thể tại Hải Phòng hiện nay xấp xỉ bao nhiêu?</a:t>
            </a:r>
            <a:endParaRPr lang="en-US" sz="4400"/>
          </a:p>
        </p:txBody>
      </p:sp>
      <p:sp>
        <p:nvSpPr>
          <p:cNvPr id="29" name="Action Button: Go Home 28">
            <a:hlinkClick r:id="rId3" action="ppaction://hlinksldjump" highlightClick="1"/>
          </p:cNvPr>
          <p:cNvSpPr/>
          <p:nvPr/>
        </p:nvSpPr>
        <p:spPr>
          <a:xfrm>
            <a:off x="11493296" y="129090"/>
            <a:ext cx="560438" cy="560438"/>
          </a:xfrm>
          <a:prstGeom prst="actionButtonHom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9e41a"/>
                                      </p:to>
                                    </p:animClr>
                                    <p:set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9e41a"/>
                                      </p:to>
                                    </p:animClr>
                                    <p:set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1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365" cy="705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a black cat with a white spot on its chest looks at the camer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10958051" y="6049202"/>
            <a:ext cx="1233947" cy="82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a black cat with a white spot on its chest looks at the camer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1" y="6079918"/>
            <a:ext cx="1233947" cy="82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8" title="idk"/>
          <p:cNvSpPr/>
          <p:nvPr/>
        </p:nvSpPr>
        <p:spPr>
          <a:xfrm>
            <a:off x="1487805" y="259588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869440" y="270129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A</a:t>
            </a:r>
            <a:r>
              <a:rPr lang="en-US" sz="2400">
                <a:solidFill>
                  <a:schemeClr val="bg1"/>
                </a:solidFill>
              </a:rPr>
              <a:t>)                                </a:t>
            </a:r>
            <a:r>
              <a:rPr lang="vi-VN" altLang="en-US" sz="2800">
                <a:solidFill>
                  <a:schemeClr val="bg1"/>
                </a:solidFill>
              </a:rPr>
              <a:t>thiếu khách hàng</a:t>
            </a:r>
            <a:endParaRPr lang="vi-VN" altLang="en-US" sz="2800">
              <a:solidFill>
                <a:schemeClr val="bg1"/>
              </a:solidFill>
            </a:endParaRPr>
          </a:p>
        </p:txBody>
      </p:sp>
      <p:sp>
        <p:nvSpPr>
          <p:cNvPr id="15" name="Rounded Rectangle 14" title="idk"/>
          <p:cNvSpPr/>
          <p:nvPr/>
        </p:nvSpPr>
        <p:spPr>
          <a:xfrm>
            <a:off x="1487805" y="358013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1869440" y="3685540"/>
            <a:ext cx="908875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B</a:t>
            </a:r>
            <a:r>
              <a:rPr lang="en-US" sz="2400">
                <a:solidFill>
                  <a:schemeClr val="bg1"/>
                </a:solidFill>
              </a:rPr>
              <a:t>)           </a:t>
            </a:r>
            <a:r>
              <a:rPr lang="en-US" sz="2800">
                <a:solidFill>
                  <a:schemeClr val="bg1"/>
                </a:solidFill>
              </a:rPr>
              <a:t>Khó tiếp cận vốn vay ngân hàng và cạnh tranh cao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7" name="Rounded Rectangle 16" title="idk"/>
          <p:cNvSpPr/>
          <p:nvPr/>
        </p:nvSpPr>
        <p:spPr>
          <a:xfrm>
            <a:off x="1487805" y="456438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1869440" y="466979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C</a:t>
            </a:r>
            <a:r>
              <a:rPr lang="en-US" sz="2400">
                <a:solidFill>
                  <a:schemeClr val="bg1"/>
                </a:solidFill>
              </a:rPr>
              <a:t>)                          </a:t>
            </a:r>
            <a:r>
              <a:rPr lang="en-US" sz="2800">
                <a:solidFill>
                  <a:schemeClr val="bg1"/>
                </a:solidFill>
              </a:rPr>
              <a:t>Không có thị trường tiêu thụ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9" name="Rounded Rectangle 18" title="idk"/>
          <p:cNvSpPr/>
          <p:nvPr/>
        </p:nvSpPr>
        <p:spPr>
          <a:xfrm>
            <a:off x="1487805" y="554863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1869440" y="565404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D</a:t>
            </a:r>
            <a:r>
              <a:rPr lang="en-US" sz="2400">
                <a:solidFill>
                  <a:schemeClr val="bg1"/>
                </a:solidFill>
              </a:rPr>
              <a:t>)                  </a:t>
            </a:r>
            <a:r>
              <a:rPr lang="en-US" sz="2800">
                <a:solidFill>
                  <a:schemeClr val="bg1"/>
                </a:solidFill>
                <a:sym typeface="+mn-ea"/>
              </a:rPr>
              <a:t>Không được phép kinh doanh dịch vụ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1488440" y="689610"/>
            <a:ext cx="9469755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6000" b="1">
                <a:latin typeface="+mn-ea"/>
                <a:cs typeface="+mn-ea"/>
              </a:rPr>
              <a:t>câu 7:</a:t>
            </a:r>
            <a:r>
              <a:rPr lang="vi-VN" altLang="en-US" sz="6000"/>
              <a:t> </a:t>
            </a:r>
            <a:r>
              <a:rPr lang="en-US" sz="4400"/>
              <a:t>Một trong những khó khăn của hộ kinh doanh cá thể là gì?</a:t>
            </a:r>
            <a:endParaRPr lang="en-US" sz="4400"/>
          </a:p>
        </p:txBody>
      </p:sp>
      <p:sp>
        <p:nvSpPr>
          <p:cNvPr id="29" name="Action Button: Go Home 28">
            <a:hlinkClick r:id="rId3" action="ppaction://hlinksldjump" highlightClick="1"/>
          </p:cNvPr>
          <p:cNvSpPr/>
          <p:nvPr/>
        </p:nvSpPr>
        <p:spPr>
          <a:xfrm>
            <a:off x="11493296" y="129090"/>
            <a:ext cx="560438" cy="560438"/>
          </a:xfrm>
          <a:prstGeom prst="actionButtonHom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9e41a"/>
                                      </p:to>
                                    </p:animClr>
                                    <p:set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9e41a"/>
                                      </p:to>
                                    </p:animClr>
                                    <p:set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1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365" cy="705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a black cat with a white spot on its chest looks at the camer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10958051" y="6049202"/>
            <a:ext cx="1233947" cy="82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a black cat with a white spot on its chest looks at the camer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1" y="6079918"/>
            <a:ext cx="1233947" cy="82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8" title="idk"/>
          <p:cNvSpPr/>
          <p:nvPr/>
        </p:nvSpPr>
        <p:spPr>
          <a:xfrm>
            <a:off x="1487805" y="259588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869440" y="2701290"/>
            <a:ext cx="908875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A</a:t>
            </a:r>
            <a:r>
              <a:rPr lang="en-US" sz="2400">
                <a:solidFill>
                  <a:schemeClr val="bg1"/>
                </a:solidFill>
              </a:rPr>
              <a:t>)                              </a:t>
            </a:r>
            <a:r>
              <a:rPr lang="en-US" sz="2800">
                <a:solidFill>
                  <a:schemeClr val="bg1"/>
                </a:solidFill>
                <a:sym typeface="+mn-ea"/>
              </a:rPr>
              <a:t>Gạo</a:t>
            </a:r>
            <a:r>
              <a:rPr lang="vi-VN" altLang="en-US" sz="2800">
                <a:solidFill>
                  <a:schemeClr val="bg1"/>
                </a:solidFill>
                <a:sym typeface="+mn-ea"/>
              </a:rPr>
              <a:t> st 36</a:t>
            </a:r>
            <a:r>
              <a:rPr lang="en-US" sz="2800">
                <a:solidFill>
                  <a:schemeClr val="bg1"/>
                </a:solidFill>
                <a:sym typeface="+mn-ea"/>
              </a:rPr>
              <a:t> và cà phê</a:t>
            </a:r>
            <a:r>
              <a:rPr lang="vi-VN" altLang="en-US" sz="2800">
                <a:solidFill>
                  <a:schemeClr val="bg1"/>
                </a:solidFill>
                <a:sym typeface="+mn-ea"/>
              </a:rPr>
              <a:t> sữa</a:t>
            </a:r>
            <a:endParaRPr lang="en-US" sz="2800"/>
          </a:p>
          <a:p>
            <a:pPr algn="l"/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5" name="Rounded Rectangle 14" title="idk"/>
          <p:cNvSpPr/>
          <p:nvPr/>
        </p:nvSpPr>
        <p:spPr>
          <a:xfrm>
            <a:off x="1487805" y="358013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1869440" y="368554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B</a:t>
            </a:r>
            <a:r>
              <a:rPr lang="en-US" sz="2400">
                <a:solidFill>
                  <a:schemeClr val="bg1"/>
                </a:solidFill>
              </a:rPr>
              <a:t>)                   </a:t>
            </a:r>
            <a:r>
              <a:rPr lang="en-US" sz="2800">
                <a:solidFill>
                  <a:schemeClr val="bg1"/>
                </a:solidFill>
                <a:sym typeface="+mn-ea"/>
              </a:rPr>
              <a:t>Nước mắm Cát Hải và mật ong Cát Bà</a:t>
            </a:r>
            <a:endParaRPr lang="en-US" sz="2800">
              <a:solidFill>
                <a:schemeClr val="bg1"/>
              </a:solidFill>
              <a:sym typeface="+mn-ea"/>
            </a:endParaRPr>
          </a:p>
        </p:txBody>
      </p:sp>
      <p:sp>
        <p:nvSpPr>
          <p:cNvPr id="17" name="Rounded Rectangle 16" title="idk"/>
          <p:cNvSpPr/>
          <p:nvPr/>
        </p:nvSpPr>
        <p:spPr>
          <a:xfrm>
            <a:off x="1487805" y="456438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1869440" y="466979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C</a:t>
            </a:r>
            <a:r>
              <a:rPr lang="en-US" sz="2400">
                <a:solidFill>
                  <a:schemeClr val="bg1"/>
                </a:solidFill>
              </a:rPr>
              <a:t>)                         </a:t>
            </a:r>
            <a:r>
              <a:rPr lang="en-US" sz="2800">
                <a:solidFill>
                  <a:schemeClr val="bg1"/>
                </a:solidFill>
                <a:sym typeface="+mn-ea"/>
              </a:rPr>
              <a:t>Thịt bò</a:t>
            </a:r>
            <a:r>
              <a:rPr lang="vi-VN" altLang="en-US" sz="2800">
                <a:solidFill>
                  <a:schemeClr val="bg1"/>
                </a:solidFill>
                <a:sym typeface="+mn-ea"/>
              </a:rPr>
              <a:t> gác bếp </a:t>
            </a:r>
            <a:r>
              <a:rPr lang="en-US" sz="2800">
                <a:solidFill>
                  <a:schemeClr val="bg1"/>
                </a:solidFill>
                <a:sym typeface="+mn-ea"/>
              </a:rPr>
              <a:t>và sữa tươi</a:t>
            </a:r>
            <a:endParaRPr lang="en-US" sz="2800">
              <a:solidFill>
                <a:schemeClr val="bg1"/>
              </a:solidFill>
              <a:sym typeface="+mn-ea"/>
            </a:endParaRPr>
          </a:p>
        </p:txBody>
      </p:sp>
      <p:sp>
        <p:nvSpPr>
          <p:cNvPr id="19" name="Rounded Rectangle 18" title="idk"/>
          <p:cNvSpPr/>
          <p:nvPr/>
        </p:nvSpPr>
        <p:spPr>
          <a:xfrm>
            <a:off x="1487805" y="5548630"/>
            <a:ext cx="9470390" cy="7327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6525" rIns="269875" bIns="136525" rtlCol="0" anchor="ctr"/>
          <a:p>
            <a:pPr algn="ctr"/>
            <a:endParaRPr lang="en-US">
              <a:noFill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1869440" y="5654040"/>
            <a:ext cx="9088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>
                <a:solidFill>
                  <a:schemeClr val="bg1"/>
                </a:solidFill>
              </a:rPr>
              <a:t> D</a:t>
            </a:r>
            <a:r>
              <a:rPr lang="en-US" sz="2400">
                <a:solidFill>
                  <a:schemeClr val="bg1"/>
                </a:solidFill>
              </a:rPr>
              <a:t>)                        </a:t>
            </a:r>
            <a:r>
              <a:rPr lang="vi-VN" altLang="en-US" sz="2400">
                <a:solidFill>
                  <a:schemeClr val="bg1"/>
                </a:solidFill>
              </a:rPr>
              <a:t>        </a:t>
            </a:r>
            <a:r>
              <a:rPr lang="en-US" sz="2800">
                <a:solidFill>
                  <a:schemeClr val="bg1"/>
                </a:solidFill>
                <a:sym typeface="+mn-ea"/>
              </a:rPr>
              <a:t>Cao su và hồ tiêu</a:t>
            </a:r>
            <a:endParaRPr lang="en-US" sz="2800">
              <a:solidFill>
                <a:schemeClr val="bg1"/>
              </a:solidFill>
              <a:sym typeface="+mn-ea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808990" y="128905"/>
            <a:ext cx="10684510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6000" b="1">
                <a:latin typeface="+mn-ea"/>
                <a:cs typeface="+mn-ea"/>
              </a:rPr>
              <a:t>câu 8:</a:t>
            </a:r>
            <a:r>
              <a:rPr lang="vi-VN" altLang="en-US" sz="6000"/>
              <a:t> </a:t>
            </a:r>
            <a:r>
              <a:rPr lang="vi-VN" altLang="en-US" sz="4400"/>
              <a:t>Một số sản phẩm OCOP tiêu biểu của khu vực Cát Hải và Cát Bà là gì</a:t>
            </a:r>
            <a:r>
              <a:rPr lang="vi-VN" altLang="en-US" sz="4400"/>
              <a:t>?</a:t>
            </a:r>
            <a:endParaRPr lang="vi-VN" altLang="en-US" sz="4400"/>
          </a:p>
        </p:txBody>
      </p:sp>
      <p:sp>
        <p:nvSpPr>
          <p:cNvPr id="29" name="Action Button: Go Home 28">
            <a:hlinkClick r:id="rId3" action="ppaction://hlinksldjump" highlightClick="1"/>
          </p:cNvPr>
          <p:cNvSpPr/>
          <p:nvPr/>
        </p:nvSpPr>
        <p:spPr>
          <a:xfrm>
            <a:off x="11493296" y="129090"/>
            <a:ext cx="560438" cy="560438"/>
          </a:xfrm>
          <a:prstGeom prst="actionButtonHom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9e41a"/>
                                      </p:to>
                                    </p:animClr>
                                    <p:set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9e41a"/>
                                      </p:to>
                                    </p:animClr>
                                    <p:set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2484</Words>
  <Application>WPS Presentation</Application>
  <PresentationFormat>Widescreen</PresentationFormat>
  <Paragraphs>112</Paragraphs>
  <Slides>11</Slides>
  <Notes>0</Notes>
  <HiddenSlides>0</HiddenSlides>
  <MMClips>1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  <vt:variant>
        <vt:lpstr>自定义放映</vt:lpstr>
      </vt:variant>
      <vt:variant>
        <vt:i4>1</vt:i4>
      </vt:variant>
    </vt:vector>
  </HeadingPairs>
  <TitlesOfParts>
    <vt:vector size="35" baseType="lpstr">
      <vt:lpstr>Arial</vt:lpstr>
      <vt:lpstr>SimSun</vt:lpstr>
      <vt:lpstr>Wingdings</vt:lpstr>
      <vt:lpstr>DejaVu Sans</vt:lpstr>
      <vt:lpstr>Aptos</vt:lpstr>
      <vt:lpstr>FreeSans</vt:lpstr>
      <vt:lpstr>ADLaM Display</vt:lpstr>
      <vt:lpstr>Times New Roman</vt:lpstr>
      <vt:lpstr>Microsoft YaHei</vt:lpstr>
      <vt:lpstr>方正黑体_GBK</vt:lpstr>
      <vt:lpstr>Arial Unicode MS</vt:lpstr>
      <vt:lpstr>Aptos Display</vt:lpstr>
      <vt:lpstr>Adwaita Mono</vt:lpstr>
      <vt:lpstr>DejaVu Math TeX Gyre</vt:lpstr>
      <vt:lpstr>Adwaita Sans</vt:lpstr>
      <vt:lpstr>FZChaoCuHei-M10</vt:lpstr>
      <vt:lpstr>DejaVu Serif Condensed</vt:lpstr>
      <vt:lpstr>Noto Serif CJK HK ExtraLight</vt:lpstr>
      <vt:lpstr>方正书宋_GBK</vt:lpstr>
      <vt:lpstr>FZSongS-Extended(SIP)</vt:lpstr>
      <vt:lpstr>JetBrainsMono NF ExtraBold</vt:lpstr>
      <vt:lpstr>Office Theme</vt:lpstr>
      <vt:lpstr>1_Office Theme</vt:lpstr>
      <vt:lpstr>SINH HOẠT CHI ĐOÀN CHỦ ĐỀ: “TRI ÂN THẦY CÔ”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quiz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notbruuh khanh</dc:creator>
  <cp:lastModifiedBy>khanh</cp:lastModifiedBy>
  <cp:revision>9</cp:revision>
  <dcterms:created xsi:type="dcterms:W3CDTF">2026-03-14T04:46:53Z</dcterms:created>
  <dcterms:modified xsi:type="dcterms:W3CDTF">2026-03-14T04:46:53Z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